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REVISÃO INTEGRADA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BBBDD"/>
                </a:solidFill>
              </a:defRPr>
            </a:pPr>
            <a:r>
              <a:t>Scrum • Product Backlog • Análise de Riscos • PMBOK e Triângulo de Ferro</a:t>
            </a:r>
            <a:br/>
            <a:br/>
            <a:r>
              <a:t>Engenharia de Software e Gestão de Times Ágeis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657600"/>
            <a:ext cx="210312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📋 Sumário da Revisão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2D2D5A"/>
                </a:solidFill>
              </a:defRPr>
            </a:pPr>
            <a:r>
              <a:t>🔹 1. O que é Scrum? — Framework, empirismo e pilares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2D2D5A"/>
                </a:solidFill>
              </a:defRPr>
            </a:pPr>
            <a:r>
              <a:t>🔹 2. Os 3 Papéis do Scrum — PO, Scrum Master e Dev Team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2D2D5A"/>
                </a:solidFill>
              </a:defRPr>
            </a:pPr>
            <a:r>
              <a:t>🔹 3. Os 5 Eventos do Scrum — Ciclo completo da Sprint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2D2D5A"/>
                </a:solidFill>
              </a:defRPr>
            </a:pPr>
            <a:r>
              <a:t>🔹 4. Artefatos do Scrum — Product Backlog, Sprint Backlog e Incremento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2D2D5A"/>
                </a:solidFill>
              </a:defRPr>
            </a:pPr>
            <a:r>
              <a:t>🔹 5. Product Backlog — Histórias de usuário e priorização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2D2D5A"/>
                </a:solidFill>
              </a:defRPr>
            </a:pPr>
            <a:r>
              <a:t>🔹 6. Análise de Riscos — Matriz Probabilidade × Impacto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2D2D5A"/>
                </a:solidFill>
              </a:defRPr>
            </a:pPr>
            <a:r>
              <a:t>🔹 7. PMBOK e Triângulo de Ferro — Escopo, Tempo e Custo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2D2D5A"/>
                </a:solidFill>
              </a:defRPr>
            </a:pPr>
            <a:r>
              <a:t>🔹 8. Conexão Preditivo → Ágil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2D2D5A"/>
                </a:solidFill>
              </a:defRPr>
            </a:pPr>
            <a:r>
              <a:t>🔹 9. Dicas para a Prova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1. O que é Scrum?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200" b="1">
                <a:solidFill>
                  <a:srgbClr val="FF6B35"/>
                </a:solidFill>
              </a:defRPr>
            </a:pPr>
            <a:r>
              <a:t>📌 Definição: Framework ágil para gerenciar e desenvolver produtos complexos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100">
                <a:solidFill>
                  <a:srgbClr val="5D6D7E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2D2D5A"/>
                </a:solidFill>
              </a:defRPr>
            </a:pPr>
            <a:r>
              <a:t>🔹 Criado em 1990 por Jeff Sutherland e Ken Schwaber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2D2D5A"/>
                </a:solidFill>
              </a:defRPr>
            </a:pPr>
            <a:r>
              <a:t>🔹 Baseado em ciclos curtos e iterativos chamados Sprints (1–4 semanas)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100">
                <a:solidFill>
                  <a:srgbClr val="5D6D7E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2100">
                <a:solidFill>
                  <a:srgbClr val="27AE60"/>
                </a:solidFill>
              </a:defRPr>
            </a:pPr>
            <a:r>
              <a:t>✅ EMPIRISMO: Conhecimento proveniente da experiência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5D6D7E"/>
                </a:solidFill>
              </a:defRPr>
            </a:pPr>
            <a:r>
              <a:t>   • Transparência — todos sabem o que está acontecendo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5D6D7E"/>
                </a:solidFill>
              </a:defRPr>
            </a:pPr>
            <a:r>
              <a:t>   • Inspeção — revisão frequente do progresso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5D6D7E"/>
                </a:solidFill>
              </a:defRPr>
            </a:pPr>
            <a:r>
              <a:t>   • Adaptação — ajustes rápidos quando necessário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100">
                <a:solidFill>
                  <a:srgbClr val="5D6D7E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2100">
                <a:solidFill>
                  <a:srgbClr val="F39C12"/>
                </a:solidFill>
              </a:defRPr>
            </a:pPr>
            <a:r>
              <a:t>💡 POR QUE USAR? Adaptação rápida, entregas contínuas, colaboração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2. Os 3 Papéis do Scrum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200" b="1">
                <a:solidFill>
                  <a:srgbClr val="FF6B35"/>
                </a:solidFill>
              </a:defRPr>
            </a:pPr>
            <a:r>
              <a:t>📌 PRODUCT OWNER (Voz do Cliente)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5D6D7E"/>
                </a:solidFill>
              </a:defRPr>
            </a:pPr>
            <a:r>
              <a:t>   • Representa cliente e stakeholders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5D6D7E"/>
                </a:solidFill>
              </a:defRPr>
            </a:pPr>
            <a:r>
              <a:t>   • Define e prioriza o Product Backlog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5D6D7E"/>
                </a:solidFill>
              </a:defRPr>
            </a:pPr>
            <a:r>
              <a:t>   • Aceita ou rejeita itens entregues na Sprint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100">
                <a:solidFill>
                  <a:srgbClr val="5D6D7E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2200" b="1">
                <a:solidFill>
                  <a:srgbClr val="FF6B35"/>
                </a:solidFill>
              </a:defRPr>
            </a:pPr>
            <a:r>
              <a:t>📌 SCRUM MASTER (Guardião do Processo)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5D6D7E"/>
                </a:solidFill>
              </a:defRPr>
            </a:pPr>
            <a:r>
              <a:t>   • Facilita os eventos Scrum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5D6D7E"/>
                </a:solidFill>
              </a:defRPr>
            </a:pPr>
            <a:r>
              <a:t>   • Remove impedimentos que bloqueiam o time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5D6D7E"/>
                </a:solidFill>
              </a:defRPr>
            </a:pPr>
            <a:r>
              <a:t>   • Protege o time de interferências externas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100">
                <a:solidFill>
                  <a:srgbClr val="5D6D7E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2200" b="1">
                <a:solidFill>
                  <a:srgbClr val="FF6B35"/>
                </a:solidFill>
              </a:defRPr>
            </a:pPr>
            <a:r>
              <a:t>📌 TIME DE DESENVOLVIMENTO (3 a 9 pessoas)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5D6D7E"/>
                </a:solidFill>
              </a:defRPr>
            </a:pPr>
            <a:r>
              <a:t>   • Auto-organizado — escolhe como fazer o trabalho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5D6D7E"/>
                </a:solidFill>
              </a:defRPr>
            </a:pPr>
            <a:r>
              <a:t>   • Multifuncional — possui todas as habilidades necessárias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5D6D7E"/>
                </a:solidFill>
              </a:defRPr>
            </a:pPr>
            <a:r>
              <a:t>   • Sem títulos hierárquicos internos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3. Os 5 Eventos do Scrum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200" b="1">
                <a:solidFill>
                  <a:srgbClr val="FF6B35"/>
                </a:solidFill>
              </a:defRPr>
            </a:pPr>
            <a:r>
              <a:t>📌 SPRINT — Container de todos os eventos. Duração fixa, não interrompível.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100">
                <a:solidFill>
                  <a:srgbClr val="5D6D7E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2200" b="1">
                <a:solidFill>
                  <a:srgbClr val="FF6B35"/>
                </a:solidFill>
              </a:defRPr>
            </a:pPr>
            <a:r>
              <a:t>📌 SPRINT PLANNING — Máx. 8h (Sprint 1 mês)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5D6D7E"/>
                </a:solidFill>
              </a:defRPr>
            </a:pPr>
            <a:r>
              <a:t>   • O QUÊ? Seleciona itens do Product Backlog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5D6D7E"/>
                </a:solidFill>
              </a:defRPr>
            </a:pPr>
            <a:r>
              <a:t>   • COMO? Define como desenvolver os itens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5D6D7E"/>
                </a:solidFill>
              </a:defRPr>
            </a:pPr>
            <a:r>
              <a:t>   • META? Define o Sprint Goal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100">
                <a:solidFill>
                  <a:srgbClr val="5D6D7E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2200" b="1">
                <a:solidFill>
                  <a:srgbClr val="FF6B35"/>
                </a:solidFill>
              </a:defRPr>
            </a:pPr>
            <a:r>
              <a:t>📌 DAILY SCRUM — 15 minutos, todo dia, mesmo horário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5D6D7E"/>
                </a:solidFill>
              </a:defRPr>
            </a:pPr>
            <a:r>
              <a:t>   • O que fiz ontem? | O que farei hoje? | Há impedimentos?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100">
                <a:solidFill>
                  <a:srgbClr val="5D6D7E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2200" b="1">
                <a:solidFill>
                  <a:srgbClr val="FF6B35"/>
                </a:solidFill>
              </a:defRPr>
            </a:pPr>
            <a:r>
              <a:t>📌 SPRINT REVIEW — Máx. 4h (Sprint 1 mês). Demo + feedback + backlog atualizado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100">
                <a:solidFill>
                  <a:srgbClr val="5D6D7E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2200" b="1">
                <a:solidFill>
                  <a:srgbClr val="FF6B35"/>
                </a:solidFill>
              </a:defRPr>
            </a:pPr>
            <a:r>
              <a:t>📌 SPRINT RETROSPECTIVE — Melhoria contínua: Funcionou? | Problemas? | Ações?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4. Artefatos do Scrum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200" b="1">
                <a:solidFill>
                  <a:srgbClr val="FF6B35"/>
                </a:solidFill>
              </a:defRPr>
            </a:pPr>
            <a:r>
              <a:t>📌 PRODUCT BACKLOG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5D6D7E"/>
                </a:solidFill>
              </a:defRPr>
            </a:pPr>
            <a:r>
              <a:t>   • Lista ordenada de TUDO necessário no produto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5D6D7E"/>
                </a:solidFill>
              </a:defRPr>
            </a:pPr>
            <a:r>
              <a:t>   • Gerenciado pelo Product Owner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5D6D7E"/>
                </a:solidFill>
              </a:defRPr>
            </a:pPr>
            <a:r>
              <a:t>   • Nunca está completo — evolui com o produto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100">
                <a:solidFill>
                  <a:srgbClr val="5D6D7E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2200" b="1">
                <a:solidFill>
                  <a:srgbClr val="FF6B35"/>
                </a:solidFill>
              </a:defRPr>
            </a:pPr>
            <a:r>
              <a:t>📌 SPRINT BACKLOG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5D6D7E"/>
                </a:solidFill>
              </a:defRPr>
            </a:pPr>
            <a:r>
              <a:t>   • Itens selecionados para a Sprint atual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5D6D7E"/>
                </a:solidFill>
              </a:defRPr>
            </a:pPr>
            <a:r>
              <a:t>   • Plano de como o time irá entregar o objetivo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5D6D7E"/>
                </a:solidFill>
              </a:defRPr>
            </a:pPr>
            <a:r>
              <a:t>   • Criado pelo Time de Desenvolvimento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100">
                <a:solidFill>
                  <a:srgbClr val="5D6D7E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2200" b="1">
                <a:solidFill>
                  <a:srgbClr val="FF6B35"/>
                </a:solidFill>
              </a:defRPr>
            </a:pPr>
            <a:r>
              <a:t>📌 INCREMENTO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5D6D7E"/>
                </a:solidFill>
              </a:defRPr>
            </a:pPr>
            <a:r>
              <a:t>   • Resultado utilizável ao final de cada Sprint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5D6D7E"/>
                </a:solidFill>
              </a:defRPr>
            </a:pPr>
            <a:r>
              <a:t>   • Deve atender à Definição de Pronto (DoD)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5D6D7E"/>
                </a:solidFill>
              </a:defRPr>
            </a:pPr>
            <a:r>
              <a:t>   • Acumulativo: cada Sprint adiciona valor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5. Product Backlog &amp; Histórias de Usuário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200" b="1">
                <a:solidFill>
                  <a:srgbClr val="FF6B35"/>
                </a:solidFill>
              </a:defRPr>
            </a:pPr>
            <a:r>
              <a:t>📌 CARACTERÍSTICAS DO BACKLOG: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5D6D7E"/>
                </a:solidFill>
              </a:defRPr>
            </a:pPr>
            <a:r>
              <a:t>   • Dinâmico — muda conforme o produto evolui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5D6D7E"/>
                </a:solidFill>
              </a:defRPr>
            </a:pPr>
            <a:r>
              <a:t>   • Priorizado — itens de maior valor primeiro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5D6D7E"/>
                </a:solidFill>
              </a:defRPr>
            </a:pPr>
            <a:r>
              <a:t>   • Evolutivo — cresce e se refina ao longo das sprints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5D6D7E"/>
                </a:solidFill>
              </a:defRPr>
            </a:pPr>
            <a:r>
              <a:t>   • Organizado — critérios claros de aceitação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100">
                <a:solidFill>
                  <a:srgbClr val="5D6D7E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2200" b="1">
                <a:solidFill>
                  <a:srgbClr val="FF6B35"/>
                </a:solidFill>
              </a:defRPr>
            </a:pPr>
            <a:r>
              <a:t>📌 HISTÓRIA DE USUÁRIO: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100">
                <a:solidFill>
                  <a:srgbClr val="5D6D7E"/>
                </a:solidFill>
              </a:defRPr>
            </a:pPr>
            <a:r>
              <a:t>   "Como [tipo de usuário], quero [objetivo], para [benefício]"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100">
                <a:solidFill>
                  <a:srgbClr val="5D6D7E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2200" b="1">
                <a:solidFill>
                  <a:srgbClr val="FF6B35"/>
                </a:solidFill>
              </a:defRPr>
            </a:pPr>
            <a:r>
              <a:t>📌 CRITÉRIOS DE PRIORIZAÇÃO: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2D2D5A"/>
                </a:solidFill>
              </a:defRPr>
            </a:pPr>
            <a:r>
              <a:t>   💎 Valor de Negócio    🔥 Urgência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2D2D5A"/>
                </a:solidFill>
              </a:defRPr>
            </a:pPr>
            <a:r>
              <a:t>   😊 Valor para Usuário  ⚙️ Esforço / Custo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6. Análise de Riscos em Projetos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200" b="1">
                <a:solidFill>
                  <a:srgbClr val="FF6B35"/>
                </a:solidFill>
              </a:defRPr>
            </a:pPr>
            <a:r>
              <a:t>📌 DEFINIÇÃO: Evento incerto que pode impactar negativamente o projeto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5D6D7E"/>
                </a:solidFill>
              </a:defRPr>
            </a:pPr>
            <a:r>
              <a:t>   • Incerto — pode ou não acontecer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5D6D7E"/>
                </a:solidFill>
              </a:defRPr>
            </a:pPr>
            <a:r>
              <a:t>   • Negativo — causa dano ao projeto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5D6D7E"/>
                </a:solidFill>
              </a:defRPr>
            </a:pPr>
            <a:r>
              <a:t>   • Gerenciável — pode ser mitigado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100">
                <a:solidFill>
                  <a:srgbClr val="5D6D7E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2200" b="1">
                <a:solidFill>
                  <a:srgbClr val="FF6B35"/>
                </a:solidFill>
              </a:defRPr>
            </a:pPr>
            <a:r>
              <a:t>📌 4 ETAPAS DO GERENCIAMENTO: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5D6D7E"/>
                </a:solidFill>
              </a:defRPr>
            </a:pPr>
            <a:r>
              <a:t>   1️⃣ Identificação — Levantar todos os riscos possíveis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5D6D7E"/>
                </a:solidFill>
              </a:defRPr>
            </a:pPr>
            <a:r>
              <a:t>   2️⃣ Análise — Avaliar probabilidade e impacto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5D6D7E"/>
                </a:solidFill>
              </a:defRPr>
            </a:pPr>
            <a:r>
              <a:t>   3️⃣ Priorização — Ordenar por criticidade e urgência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5D6D7E"/>
                </a:solidFill>
              </a:defRPr>
            </a:pPr>
            <a:r>
              <a:t>   4️⃣ Mitigação — Definir ações preventivas e planos de resposta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100">
                <a:solidFill>
                  <a:srgbClr val="5D6D7E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2200" b="1">
                <a:solidFill>
                  <a:srgbClr val="FF6B35"/>
                </a:solidFill>
              </a:defRPr>
            </a:pPr>
            <a:r>
              <a:t>📌 ESTRATÉGIAS: Evitar | Transferir | Reduzir | Aceitar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6. Matriz de Risco — Probabilidade × Impacto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0" y="1417320"/>
            <a:ext cx="3017520" cy="411480"/>
          </a:xfrm>
          <a:prstGeom prst="rect">
            <a:avLst/>
          </a:prstGeom>
          <a:solidFill>
            <a:srgbClr val="2D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BAIXO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7840" y="1417320"/>
            <a:ext cx="3017520" cy="411480"/>
          </a:xfrm>
          <a:prstGeom prst="rect">
            <a:avLst/>
          </a:prstGeom>
          <a:solidFill>
            <a:srgbClr val="2D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MÉDIO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0" y="1417320"/>
            <a:ext cx="3017520" cy="411480"/>
          </a:xfrm>
          <a:prstGeom prst="rect">
            <a:avLst/>
          </a:prstGeom>
          <a:solidFill>
            <a:srgbClr val="2D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ALTO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1828800"/>
            <a:ext cx="1280160" cy="1097280"/>
          </a:xfrm>
          <a:prstGeom prst="rect">
            <a:avLst/>
          </a:prstGeom>
          <a:solidFill>
            <a:srgbClr val="2D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ALTA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2926080"/>
            <a:ext cx="1280160" cy="1097280"/>
          </a:xfrm>
          <a:prstGeom prst="rect">
            <a:avLst/>
          </a:prstGeom>
          <a:solidFill>
            <a:srgbClr val="2D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MÉDIA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4023360"/>
            <a:ext cx="1280160" cy="1097280"/>
          </a:xfrm>
          <a:prstGeom prst="rect">
            <a:avLst/>
          </a:prstGeom>
          <a:solidFill>
            <a:srgbClr val="2D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BAIXA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1828800"/>
            <a:ext cx="3017520" cy="1097280"/>
          </a:xfrm>
          <a:prstGeom prst="rect">
            <a:avLst/>
          </a:prstGeom>
          <a:solidFill>
            <a:srgbClr val="F39C1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Médio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1828800"/>
            <a:ext cx="3017520" cy="1097280"/>
          </a:xfrm>
          <a:prstGeom prst="rect">
            <a:avLst/>
          </a:prstGeom>
          <a:solidFill>
            <a:srgbClr val="E74C3C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Alto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60" y="1828800"/>
            <a:ext cx="3017520" cy="1097280"/>
          </a:xfrm>
          <a:prstGeom prst="rect">
            <a:avLst/>
          </a:prstGeom>
          <a:solidFill>
            <a:srgbClr val="8B00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Crítico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2926080"/>
            <a:ext cx="3017520" cy="1097280"/>
          </a:xfrm>
          <a:prstGeom prst="rect">
            <a:avLst/>
          </a:prstGeom>
          <a:solidFill>
            <a:srgbClr val="27AE6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Baixo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77840" y="2926080"/>
            <a:ext cx="3017520" cy="1097280"/>
          </a:xfrm>
          <a:prstGeom prst="rect">
            <a:avLst/>
          </a:prstGeom>
          <a:solidFill>
            <a:srgbClr val="F39C1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Médio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95360" y="2926080"/>
            <a:ext cx="3017520" cy="1097280"/>
          </a:xfrm>
          <a:prstGeom prst="rect">
            <a:avLst/>
          </a:prstGeom>
          <a:solidFill>
            <a:srgbClr val="E74C3C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Alto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0" y="4023360"/>
            <a:ext cx="3017520" cy="1097280"/>
          </a:xfrm>
          <a:prstGeom prst="rect">
            <a:avLst/>
          </a:prstGeom>
          <a:solidFill>
            <a:srgbClr val="27AE6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Baixo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4023360"/>
            <a:ext cx="3017520" cy="1097280"/>
          </a:xfrm>
          <a:prstGeom prst="rect">
            <a:avLst/>
          </a:prstGeom>
          <a:solidFill>
            <a:srgbClr val="27AE6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Baixo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60" y="4023360"/>
            <a:ext cx="3017520" cy="1097280"/>
          </a:xfrm>
          <a:prstGeom prst="rect">
            <a:avLst/>
          </a:prstGeom>
          <a:solidFill>
            <a:srgbClr val="F39C1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Médio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32004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D2D5A"/>
                </a:solidFill>
              </a:defRPr>
            </a:pPr>
            <a:r>
              <a:t>PROBABILIDADE 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12801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D2D5A"/>
                </a:solidFill>
              </a:defRPr>
            </a:pPr>
            <a:r>
              <a:t>IMPACTO 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7. PMBOK — Project Management Body of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200" b="1">
                <a:solidFill>
                  <a:srgbClr val="FF6B35"/>
                </a:solidFill>
              </a:defRPr>
            </a:pPr>
            <a:r>
              <a:t>📌 O QUE É? Conjunto de conhecimentos sobre normas, métodos e práticas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5D6D7E"/>
                </a:solidFill>
              </a:defRPr>
            </a:pPr>
            <a:r>
              <a:t>   • Mantido pelo PMI (Project Management Institute)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5D6D7E"/>
                </a:solidFill>
              </a:defRPr>
            </a:pPr>
            <a:r>
              <a:t>   • É um GUIA, não uma metodologia rígida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5D6D7E"/>
                </a:solidFill>
              </a:defRPr>
            </a:pPr>
            <a:r>
              <a:t>   • Padroniza a linguagem entre gestores de todos os setores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100">
                <a:solidFill>
                  <a:srgbClr val="5D6D7E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2200" b="1">
                <a:solidFill>
                  <a:srgbClr val="FF6B35"/>
                </a:solidFill>
              </a:defRPr>
            </a:pPr>
            <a:r>
              <a:t>📌 ÁREAS DE CONHECIMENTO (10):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100">
                <a:solidFill>
                  <a:srgbClr val="5D6D7E"/>
                </a:solidFill>
              </a:defRPr>
            </a:pPr>
            <a:r>
              <a:t>   Integração | Escopo | Cronograma | Custos | Qualidade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100">
                <a:solidFill>
                  <a:srgbClr val="5D6D7E"/>
                </a:solidFill>
              </a:defRPr>
            </a:pPr>
            <a:r>
              <a:t>   Recursos | Comunicações | Riscos | Aquisições | Stakeholders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100">
                <a:solidFill>
                  <a:srgbClr val="5D6D7E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2200" b="1">
                <a:solidFill>
                  <a:srgbClr val="FF6B35"/>
                </a:solidFill>
              </a:defRPr>
            </a:pPr>
            <a:r>
              <a:t>📌 POR QUE É VITAL PARA TI?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5D6D7E"/>
                </a:solidFill>
              </a:defRPr>
            </a:pPr>
            <a:r>
              <a:t>   • Padronização entre devs, gestores e clientes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5D6D7E"/>
                </a:solidFill>
              </a:defRPr>
            </a:pPr>
            <a:r>
              <a:t>   • Previsibilidade do progresso e entregas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5D6D7E"/>
                </a:solidFill>
              </a:defRPr>
            </a:pPr>
            <a:r>
              <a:t>   • Facilita gestão de riscos e comunicação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7. Triângulo de Ferro — A Tripula Restrição</a:t>
            </a:r>
          </a:p>
        </p:txBody>
      </p:sp>
      <p:sp>
        <p:nvSpPr>
          <p:cNvPr id="5" name="Isosceles Triangle 4"/>
          <p:cNvSpPr/>
          <p:nvPr/>
        </p:nvSpPr>
        <p:spPr>
          <a:xfrm>
            <a:off x="4114800" y="1828800"/>
            <a:ext cx="3657600" cy="2926080"/>
          </a:xfrm>
          <a:prstGeom prst="triangle">
            <a:avLst/>
          </a:prstGeom>
          <a:solidFill>
            <a:srgbClr val="34495E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212080" y="2011680"/>
            <a:ext cx="1645920" cy="6400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ESCOPO</a:t>
            </a:r>
          </a:p>
        </p:txBody>
      </p:sp>
      <p:sp>
        <p:nvSpPr>
          <p:cNvPr id="7" name="Oval 6"/>
          <p:cNvSpPr/>
          <p:nvPr/>
        </p:nvSpPr>
        <p:spPr>
          <a:xfrm>
            <a:off x="3383280" y="3840480"/>
            <a:ext cx="1645920" cy="64008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TEMPO</a:t>
            </a:r>
          </a:p>
        </p:txBody>
      </p:sp>
      <p:sp>
        <p:nvSpPr>
          <p:cNvPr id="8" name="Oval 7"/>
          <p:cNvSpPr/>
          <p:nvPr/>
        </p:nvSpPr>
        <p:spPr>
          <a:xfrm>
            <a:off x="7040880" y="3840480"/>
            <a:ext cx="1645920" cy="64008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CUSTO</a:t>
            </a:r>
          </a:p>
        </p:txBody>
      </p:sp>
      <p:sp>
        <p:nvSpPr>
          <p:cNvPr id="9" name="Oval 8"/>
          <p:cNvSpPr/>
          <p:nvPr/>
        </p:nvSpPr>
        <p:spPr>
          <a:xfrm>
            <a:off x="5257800" y="3291840"/>
            <a:ext cx="128016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QUALIDADE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D2D5A"/>
                </a:solidFill>
              </a:defRPr>
            </a:pPr>
            <a:r>
              <a:t>📌 LEI DA COMPENSAÇÃO: Alterar um elemento impacta obrigatoriamente os outros dois.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8. Conexão: Do Preditivo ao Ágil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200" b="1">
                <a:solidFill>
                  <a:srgbClr val="FF6B35"/>
                </a:solidFill>
              </a:defRPr>
            </a:pPr>
            <a:r>
              <a:t>📌 MODELO PREDITIVO (CASCATA)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5D6D7E"/>
                </a:solidFill>
              </a:defRPr>
            </a:pPr>
            <a:r>
              <a:t>   • Escopo: FIXO (definido no início)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5D6D7E"/>
                </a:solidFill>
              </a:defRPr>
            </a:pPr>
            <a:r>
              <a:t>   • Tempo: VARIÁVEL (estimado)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5D6D7E"/>
                </a:solidFill>
              </a:defRPr>
            </a:pPr>
            <a:r>
              <a:t>   • Custo: VARIÁVEL (estimado)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5D6D7E"/>
                </a:solidFill>
              </a:defRPr>
            </a:pPr>
            <a:r>
              <a:t>   • Risco: Atrasos e estouro de orçamento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100">
                <a:solidFill>
                  <a:srgbClr val="5D6D7E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2200" b="1">
                <a:solidFill>
                  <a:srgbClr val="FF6B35"/>
                </a:solidFill>
              </a:defRPr>
            </a:pPr>
            <a:r>
              <a:t>📌 MODELO ÁGIL (SCRUM)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5D6D7E"/>
                </a:solidFill>
              </a:defRPr>
            </a:pPr>
            <a:r>
              <a:t>   • Escopo: VARIÁVEL (priorizado)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5D6D7E"/>
                </a:solidFill>
              </a:defRPr>
            </a:pPr>
            <a:r>
              <a:t>   • Tempo: FIXO (Sprints/Timebox)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5D6D7E"/>
                </a:solidFill>
              </a:defRPr>
            </a:pPr>
            <a:r>
              <a:t>   • Custo: FIXO (Time fixo)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5D6D7E"/>
                </a:solidFill>
              </a:defRPr>
            </a:pPr>
            <a:r>
              <a:t>   • Foco: Entregar valor real rapidamente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100">
                <a:solidFill>
                  <a:srgbClr val="5D6D7E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2100">
                <a:solidFill>
                  <a:srgbClr val="F39C12"/>
                </a:solidFill>
              </a:defRPr>
            </a:pPr>
            <a:r>
              <a:t>💡 No Ágil, fixamos recursos e tempo para descobrir o que cabe no escopo!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Diagrama do Fluxo Scrum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377440" cy="1097280"/>
          </a:xfrm>
          <a:prstGeom prst="roundRect">
            <a:avLst/>
          </a:prstGeom>
          <a:solidFill>
            <a:srgbClr val="2D2D5A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Product</a:t>
            </a:r>
            <a:br/>
            <a:r>
              <a:t>Backlog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44368" y="2148840"/>
            <a:ext cx="182880" cy="457200"/>
          </a:xfrm>
          <a:prstGeom prst="rightArrow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154680" y="1828800"/>
            <a:ext cx="2377440" cy="1097280"/>
          </a:xfrm>
          <a:prstGeom prst="roundRect">
            <a:avLst/>
          </a:prstGeom>
          <a:solidFill>
            <a:srgbClr val="FF6B35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Sprint</a:t>
            </a:r>
            <a:br/>
            <a:r>
              <a:t>Planning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550408" y="2148840"/>
            <a:ext cx="182880" cy="457200"/>
          </a:xfrm>
          <a:prstGeom prst="rightArrow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760720" y="1828800"/>
            <a:ext cx="2377440" cy="1097280"/>
          </a:xfrm>
          <a:prstGeom prst="roundRect">
            <a:avLst/>
          </a:prstGeom>
          <a:solidFill>
            <a:srgbClr val="F39C1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Sprint</a:t>
            </a:r>
            <a:br/>
            <a:r>
              <a:t>Backlog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156448" y="2148840"/>
            <a:ext cx="182880" cy="457200"/>
          </a:xfrm>
          <a:prstGeom prst="rightArrow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66760" y="1828800"/>
            <a:ext cx="2377440" cy="1097280"/>
          </a:xfrm>
          <a:prstGeom prst="roundRect">
            <a:avLst/>
          </a:prstGeom>
          <a:solidFill>
            <a:srgbClr val="27AE6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SPRINT</a:t>
            </a:r>
            <a:br/>
            <a:r>
              <a:t>(1-4 sem)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2377440" cy="1097280"/>
          </a:xfrm>
          <a:prstGeom prst="roundRect">
            <a:avLst/>
          </a:prstGeom>
          <a:solidFill>
            <a:srgbClr val="F39C1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Daily</a:t>
            </a:r>
            <a:br/>
            <a:r>
              <a:t>Scrum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944368" y="3794760"/>
            <a:ext cx="182880" cy="457200"/>
          </a:xfrm>
          <a:prstGeom prst="rightArrow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154680" y="3474720"/>
            <a:ext cx="2377440" cy="1097280"/>
          </a:xfrm>
          <a:prstGeom prst="roundRect">
            <a:avLst/>
          </a:prstGeom>
          <a:solidFill>
            <a:srgbClr val="6B5B95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Sprint</a:t>
            </a:r>
            <a:br/>
            <a:r>
              <a:t>Review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550408" y="3794760"/>
            <a:ext cx="182880" cy="457200"/>
          </a:xfrm>
          <a:prstGeom prst="rightArrow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760720" y="3474720"/>
            <a:ext cx="2377440" cy="1097280"/>
          </a:xfrm>
          <a:prstGeom prst="roundRect">
            <a:avLst/>
          </a:prstGeom>
          <a:solidFill>
            <a:srgbClr val="E74C3C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Sprint</a:t>
            </a:r>
            <a:br/>
            <a:r>
              <a:t>Retro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156448" y="3794760"/>
            <a:ext cx="182880" cy="457200"/>
          </a:xfrm>
          <a:prstGeom prst="rightArrow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66760" y="3474720"/>
            <a:ext cx="2377440" cy="1097280"/>
          </a:xfrm>
          <a:prstGeom prst="roundRect">
            <a:avLst/>
          </a:prstGeom>
          <a:solidFill>
            <a:srgbClr val="27AE6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Incremento</a:t>
            </a:r>
            <a:br/>
            <a:r>
              <a:t>✓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760720" y="2926080"/>
            <a:ext cx="457200" cy="548640"/>
          </a:xfrm>
          <a:prstGeom prst="downArrow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9. 🎯 Dicas para a Prova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100">
                <a:solidFill>
                  <a:srgbClr val="27AE60"/>
                </a:solidFill>
              </a:defRPr>
            </a:pPr>
            <a:r>
              <a:t>✅ MEMORIZE os 3 papéis, 5 eventos e 3 artefatos do Scrum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100">
                <a:solidFill>
                  <a:srgbClr val="27AE60"/>
                </a:solidFill>
              </a:defRPr>
            </a:pPr>
            <a:r>
              <a:t>✅ DOMINE o formato da história de usuário: Como... Quero... Para...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100">
                <a:solidFill>
                  <a:srgbClr val="27AE60"/>
                </a:solidFill>
              </a:defRPr>
            </a:pPr>
            <a:r>
              <a:t>✅ SAIBA diferenciar Product Backlog (PO) vs Sprint Backlog (Dev Team)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100">
                <a:solidFill>
                  <a:srgbClr val="27AE60"/>
                </a:solidFill>
              </a:defRPr>
            </a:pPr>
            <a:r>
              <a:t>✅ ENTENDA a matriz de risco: Alta Prob + Alto Impacto = CRÍTICO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100">
                <a:solidFill>
                  <a:srgbClr val="27AE60"/>
                </a:solidFill>
              </a:defRPr>
            </a:pPr>
            <a:r>
              <a:t>✅ LEMBRE as 4 estratégias de mitigação: Evitar, Transferir, Reduzir, Aceitar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100">
                <a:solidFill>
                  <a:srgbClr val="27AE60"/>
                </a:solidFill>
              </a:defRPr>
            </a:pPr>
            <a:r>
              <a:t>✅ CONHEÇA o Triângulo de Ferro: Escopo, Tempo, Custo (Qualidade no centro)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100">
                <a:solidFill>
                  <a:srgbClr val="27AE60"/>
                </a:solidFill>
              </a:defRPr>
            </a:pPr>
            <a:r>
              <a:t>✅ DISTINGA Preditivo (Escopo fixo) vs Ágil (Tempo fixo)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100">
                <a:solidFill>
                  <a:srgbClr val="27AE60"/>
                </a:solidFill>
              </a:defRPr>
            </a:pPr>
            <a:r>
              <a:t>✅ PMBOK é GUIA, não metodologia rígida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100">
                <a:solidFill>
                  <a:srgbClr val="5D6D7E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2100">
                <a:solidFill>
                  <a:srgbClr val="E74C3C"/>
                </a:solidFill>
              </a:defRPr>
            </a:pPr>
            <a:r>
              <a:t>🔴 CUIDADO: Daily Scrum = 15 min | Planning = max 8h | Review = max 4h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100">
                <a:solidFill>
                  <a:srgbClr val="E74C3C"/>
                </a:solidFill>
              </a:defRPr>
            </a:pPr>
            <a:r>
              <a:t>🔴 CUIDADO: Sprint NÃO pode ser interrompida para mudanças de escopo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BOA PROVA! 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BBBDD"/>
                </a:solidFill>
              </a:defRPr>
            </a:pPr>
            <a:r>
              <a:t>Revisão Completa de Engenharia de Software</a:t>
            </a:r>
            <a:br/>
            <a:r>
              <a:t>e Gestão de Times Ágeis</a:t>
            </a:r>
            <a:br/>
            <a:br/>
            <a:r>
              <a:t>Prof. José Everton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657600"/>
            <a:ext cx="210312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